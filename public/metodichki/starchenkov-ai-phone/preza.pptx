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1"/>
      <p:bold r:id="rId12"/>
      <p:italic r:id="rId13"/>
    </p:embeddedFont>
    <p:embeddedFont>
      <p:font typeface="Roboto Serif" panose="020B0604020202020204" charset="0"/>
      <p:bold r:id="rId14"/>
      <p:italic r:id="rId15"/>
    </p:embeddedFont>
    <p:embeddedFont>
      <p:font typeface="Roboto Serif Black" panose="020B0604020202020204" charset="0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156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9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8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66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64306"/>
            <a:ext cx="4814888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63"/>
              </a:lnSpc>
              <a:buNone/>
            </a:pPr>
            <a:r>
              <a:rPr lang="en-US" sz="4050" dirty="0">
                <a:solidFill>
                  <a:srgbClr val="1F2937"/>
                </a:solidFill>
                <a:latin typeface="Roboto Serif Black" pitchFamily="34" charset="0"/>
                <a:ea typeface="Roboto Serif Black" pitchFamily="34" charset="-122"/>
                <a:cs typeface="Roboto Serif Black" pitchFamily="34" charset="-120"/>
              </a:rPr>
              <a:t>ИИшный телефон!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753666" y="2128837"/>
            <a:ext cx="2707481" cy="88582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379" y="2149104"/>
            <a:ext cx="2707481" cy="8858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86238" y="2571750"/>
            <a:ext cx="2707481" cy="88582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6238" y="2571750"/>
            <a:ext cx="2707481" cy="8858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 rot="120000">
            <a:off x="939748" y="3575987"/>
            <a:ext cx="2707481" cy="88582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0000">
            <a:off x="939749" y="3614564"/>
            <a:ext cx="2707481" cy="8858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5116" y="2643187"/>
            <a:ext cx="2393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Увидеть, как меняется информация.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357688" y="3086100"/>
            <a:ext cx="2393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Искусственный интеллект (ИИ).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 rot="120000">
            <a:off x="1105709" y="4090491"/>
            <a:ext cx="23788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Всегда неожиданный и смешной!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925116" y="2300287"/>
            <a:ext cx="285750" cy="285750"/>
          </a:xfrm>
          <a:prstGeom prst="ellipse">
            <a:avLst/>
          </a:prstGeom>
          <a:solidFill>
            <a:srgbClr val="FFF7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1296591" y="2343150"/>
            <a:ext cx="4194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Цель:</a:t>
            </a:r>
            <a:endParaRPr lang="en-US" sz="1010" dirty="0"/>
          </a:p>
        </p:txBody>
      </p:sp>
      <p:sp>
        <p:nvSpPr>
          <p:cNvPr id="17" name="Text 11"/>
          <p:cNvSpPr/>
          <p:nvPr/>
        </p:nvSpPr>
        <p:spPr>
          <a:xfrm>
            <a:off x="4357688" y="2743200"/>
            <a:ext cx="285750" cy="285750"/>
          </a:xfrm>
          <a:prstGeom prst="ellipse">
            <a:avLst/>
          </a:prstGeom>
          <a:solidFill>
            <a:srgbClr val="F1F6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729163" y="2786063"/>
            <a:ext cx="844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Инструмент:</a:t>
            </a:r>
            <a:endParaRPr lang="en-US" sz="1010" dirty="0"/>
          </a:p>
        </p:txBody>
      </p:sp>
      <p:sp>
        <p:nvSpPr>
          <p:cNvPr id="19" name="Text 13"/>
          <p:cNvSpPr/>
          <p:nvPr/>
        </p:nvSpPr>
        <p:spPr>
          <a:xfrm rot="120000">
            <a:off x="1130095" y="3719123"/>
            <a:ext cx="300038" cy="300038"/>
          </a:xfrm>
          <a:prstGeom prst="ellipse">
            <a:avLst/>
          </a:prstGeom>
          <a:solidFill>
            <a:srgbClr val="FFF7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 rot="120000">
            <a:off x="1500476" y="3796081"/>
            <a:ext cx="7223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Результат:</a:t>
            </a:r>
            <a:endParaRPr lang="en-US" sz="101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266" y="2357437"/>
            <a:ext cx="171450" cy="171450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838" y="2800350"/>
            <a:ext cx="171450" cy="171450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">
            <a:off x="1187372" y="3776151"/>
            <a:ext cx="178594" cy="178594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58000" y="0"/>
            <a:ext cx="2286000" cy="2286000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1450"/>
            <a:ext cx="8849032" cy="49775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300" y="-178594"/>
            <a:ext cx="5107781" cy="1993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66"/>
              </a:lnSpc>
              <a:buNone/>
            </a:pPr>
            <a:r>
              <a:rPr lang="en-US" sz="3270" dirty="0">
                <a:solidFill>
                  <a:srgbClr val="1F2937"/>
                </a:solidFill>
                <a:latin typeface="Roboto Serif Black" pitchFamily="34" charset="0"/>
                <a:ea typeface="Roboto Serif Black" pitchFamily="34" charset="-122"/>
                <a:cs typeface="Roboto Serif Black" pitchFamily="34" charset="-120"/>
              </a:rPr>
              <a:t>
Что такое сломанный телефон</a:t>
            </a:r>
            <a:endParaRPr lang="en-US" sz="3270" dirty="0"/>
          </a:p>
        </p:txBody>
      </p:sp>
      <p:sp>
        <p:nvSpPr>
          <p:cNvPr id="4" name="Text 2"/>
          <p:cNvSpPr/>
          <p:nvPr/>
        </p:nvSpPr>
        <p:spPr>
          <a:xfrm>
            <a:off x="421481" y="1271588"/>
            <a:ext cx="46733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10" b="1" dirty="0">
                <a:solidFill>
                  <a:srgbClr val="2A6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Классическая игра, которую знают все</a:t>
            </a:r>
            <a:endParaRPr lang="en-US" sz="1310" dirty="0"/>
          </a:p>
        </p:txBody>
      </p:sp>
      <p:sp>
        <p:nvSpPr>
          <p:cNvPr id="5" name="Text 3"/>
          <p:cNvSpPr/>
          <p:nvPr/>
        </p:nvSpPr>
        <p:spPr>
          <a:xfrm>
            <a:off x="342900" y="4200525"/>
            <a:ext cx="4800600" cy="942975"/>
          </a:xfrm>
          <a:prstGeom prst="rect">
            <a:avLst/>
          </a:prstGeom>
          <a:solidFill>
            <a:srgbClr val="F0F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2900" y="4200525"/>
            <a:ext cx="57150" cy="942975"/>
          </a:xfrm>
          <a:prstGeom prst="rect">
            <a:avLst/>
          </a:prstGeom>
          <a:solidFill>
            <a:srgbClr val="BBD0FF"/>
          </a:solidFill>
          <a:ln w="12700">
            <a:solidFill>
              <a:srgbClr val="BBD0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4371975"/>
            <a:ext cx="4429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Почему это происходит?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4572000"/>
            <a:ext cx="44148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Люди воспринимают информацию по-разному, и каждое звено в цепочке добавляет капельку своего восприятия (или ошибок).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342900" y="1685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D6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00" y="2337027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BBD0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756" y="313100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D6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771650"/>
            <a:ext cx="285750" cy="285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78694" y="1578769"/>
            <a:ext cx="4065024" cy="193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Шёпот на ухо: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978694" y="1814513"/>
            <a:ext cx="4051198" cy="38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29"/>
              </a:lnSpc>
              <a:buNone/>
            </a:pPr>
            <a:r>
              <a:rPr lang="en-US" sz="98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Первый игрок шепчет слово второму, второй — третьему, и так до конца цепочки.</a:t>
            </a:r>
            <a:endParaRPr lang="en-US" sz="98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422752"/>
            <a:ext cx="285750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78694" y="2278856"/>
            <a:ext cx="4065024" cy="193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Искажение звуков:</a:t>
            </a:r>
            <a:endParaRPr lang="en-US" sz="1090" dirty="0"/>
          </a:p>
        </p:txBody>
      </p:sp>
      <p:sp>
        <p:nvSpPr>
          <p:cNvPr id="17" name="Text 13"/>
          <p:cNvSpPr/>
          <p:nvPr/>
        </p:nvSpPr>
        <p:spPr>
          <a:xfrm>
            <a:off x="942975" y="2514600"/>
            <a:ext cx="4051198" cy="38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29"/>
              </a:lnSpc>
              <a:buNone/>
            </a:pPr>
            <a:r>
              <a:rPr lang="en-US" sz="98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Кто-то не расслышал, кто-то случайно изменил окончание, а кто-то решил немного похулиганить.</a:t>
            </a:r>
            <a:endParaRPr lang="en-US" sz="98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" y="3216729"/>
            <a:ext cx="285750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4406" y="2993231"/>
            <a:ext cx="4065024" cy="193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Финальный смех:</a:t>
            </a:r>
            <a:endParaRPr lang="en-US" sz="1090" dirty="0"/>
          </a:p>
        </p:txBody>
      </p:sp>
      <p:sp>
        <p:nvSpPr>
          <p:cNvPr id="20" name="Text 15"/>
          <p:cNvSpPr/>
          <p:nvPr/>
        </p:nvSpPr>
        <p:spPr>
          <a:xfrm>
            <a:off x="935831" y="3336131"/>
            <a:ext cx="4051198" cy="38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29"/>
              </a:lnSpc>
              <a:buNone/>
            </a:pPr>
            <a:r>
              <a:rPr lang="en-US" sz="98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Последний игрок произносит слово вслух, и оно обычно совсем не похоже на то, что было в начале!</a:t>
            </a:r>
            <a:endParaRPr lang="en-US" sz="98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  <p:pic>
        <p:nvPicPr>
          <p:cNvPr id="25" name="Image 3">
            <a:extLst>
              <a:ext uri="{FF2B5EF4-FFF2-40B4-BE49-F238E27FC236}">
                <a16:creationId xmlns:a16="http://schemas.microsoft.com/office/drawing/2014/main" id="{FBF0332B-9BD2-EFC2-0553-755F801F9F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11253" y="1"/>
            <a:ext cx="1232746" cy="123274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5FC1111-E5C4-61BF-F713-92D4CB106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932" y="88490"/>
            <a:ext cx="282792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Как работает версия с 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2900" y="742950"/>
            <a:ext cx="84867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A37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Цикл превращений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606" y="1028700"/>
            <a:ext cx="8458200" cy="2571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4000500"/>
            <a:ext cx="19859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4000500"/>
            <a:ext cx="1985963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00313" y="4000500"/>
            <a:ext cx="19859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0313" y="4000500"/>
            <a:ext cx="198596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7725" y="4000500"/>
            <a:ext cx="19859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25" y="4000500"/>
            <a:ext cx="1985963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15138" y="4000500"/>
            <a:ext cx="19859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5138" y="4000500"/>
            <a:ext cx="1985963" cy="1143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5775" y="4171950"/>
            <a:ext cx="17287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FF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endParaRPr lang="en-US" sz="1690" dirty="0"/>
          </a:p>
        </p:txBody>
      </p:sp>
      <p:sp>
        <p:nvSpPr>
          <p:cNvPr id="15" name="Text 8"/>
          <p:cNvSpPr/>
          <p:nvPr/>
        </p:nvSpPr>
        <p:spPr>
          <a:xfrm>
            <a:off x="485775" y="4486275"/>
            <a:ext cx="17287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Слово:</a:t>
            </a:r>
            <a:endParaRPr lang="en-US" sz="1010" dirty="0"/>
          </a:p>
        </p:txBody>
      </p:sp>
      <p:sp>
        <p:nvSpPr>
          <p:cNvPr id="16" name="Text 9"/>
          <p:cNvSpPr/>
          <p:nvPr/>
        </p:nvSpPr>
        <p:spPr>
          <a:xfrm>
            <a:off x="485775" y="4714875"/>
            <a:ext cx="1728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9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Выбираем объект.</a:t>
            </a:r>
            <a:endParaRPr lang="en-US" sz="790" dirty="0"/>
          </a:p>
        </p:txBody>
      </p:sp>
      <p:sp>
        <p:nvSpPr>
          <p:cNvPr id="17" name="Text 10"/>
          <p:cNvSpPr/>
          <p:nvPr/>
        </p:nvSpPr>
        <p:spPr>
          <a:xfrm>
            <a:off x="2643188" y="4171950"/>
            <a:ext cx="17287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BBD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endParaRPr lang="en-US" sz="1690" dirty="0"/>
          </a:p>
        </p:txBody>
      </p:sp>
      <p:sp>
        <p:nvSpPr>
          <p:cNvPr id="18" name="Text 11"/>
          <p:cNvSpPr/>
          <p:nvPr/>
        </p:nvSpPr>
        <p:spPr>
          <a:xfrm>
            <a:off x="2643188" y="4486275"/>
            <a:ext cx="17287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Загадка:</a:t>
            </a:r>
            <a:endParaRPr lang="en-US" sz="1010" dirty="0"/>
          </a:p>
        </p:txBody>
      </p:sp>
      <p:sp>
        <p:nvSpPr>
          <p:cNvPr id="19" name="Text 12"/>
          <p:cNvSpPr/>
          <p:nvPr/>
        </p:nvSpPr>
        <p:spPr>
          <a:xfrm>
            <a:off x="2643188" y="4714875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26"/>
              </a:lnSpc>
              <a:buNone/>
            </a:pPr>
            <a:r>
              <a:rPr lang="en-US" sz="79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превращает его в описание-головоломку.</a:t>
            </a:r>
            <a:endParaRPr lang="en-US" sz="790" dirty="0"/>
          </a:p>
        </p:txBody>
      </p:sp>
      <p:sp>
        <p:nvSpPr>
          <p:cNvPr id="20" name="Text 13"/>
          <p:cNvSpPr/>
          <p:nvPr/>
        </p:nvSpPr>
        <p:spPr>
          <a:xfrm>
            <a:off x="4800600" y="4171950"/>
            <a:ext cx="17287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FF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endParaRPr lang="en-US" sz="1690" dirty="0"/>
          </a:p>
        </p:txBody>
      </p:sp>
      <p:sp>
        <p:nvSpPr>
          <p:cNvPr id="21" name="Text 14"/>
          <p:cNvSpPr/>
          <p:nvPr/>
        </p:nvSpPr>
        <p:spPr>
          <a:xfrm>
            <a:off x="4800600" y="4486275"/>
            <a:ext cx="17287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Картинка:</a:t>
            </a:r>
            <a:endParaRPr lang="en-US" sz="1010" dirty="0"/>
          </a:p>
        </p:txBody>
      </p:sp>
      <p:sp>
        <p:nvSpPr>
          <p:cNvPr id="22" name="Text 15"/>
          <p:cNvSpPr/>
          <p:nvPr/>
        </p:nvSpPr>
        <p:spPr>
          <a:xfrm>
            <a:off x="4800600" y="4714875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26"/>
              </a:lnSpc>
              <a:buNone/>
            </a:pPr>
            <a:r>
              <a:rPr lang="en-US" sz="79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создаёт визуальный образ по догадке.</a:t>
            </a:r>
            <a:endParaRPr lang="en-US" sz="790" dirty="0"/>
          </a:p>
        </p:txBody>
      </p:sp>
      <p:sp>
        <p:nvSpPr>
          <p:cNvPr id="23" name="Text 16"/>
          <p:cNvSpPr/>
          <p:nvPr/>
        </p:nvSpPr>
        <p:spPr>
          <a:xfrm>
            <a:off x="6958013" y="4171950"/>
            <a:ext cx="17287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BBD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</a:t>
            </a:r>
            <a:endParaRPr lang="en-US" sz="1690" dirty="0"/>
          </a:p>
        </p:txBody>
      </p:sp>
      <p:sp>
        <p:nvSpPr>
          <p:cNvPr id="24" name="Text 17"/>
          <p:cNvSpPr/>
          <p:nvPr/>
        </p:nvSpPr>
        <p:spPr>
          <a:xfrm>
            <a:off x="6958013" y="4486275"/>
            <a:ext cx="17287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Описание:</a:t>
            </a:r>
            <a:endParaRPr lang="en-US" sz="1010" dirty="0"/>
          </a:p>
        </p:txBody>
      </p:sp>
      <p:sp>
        <p:nvSpPr>
          <p:cNvPr id="25" name="Text 18"/>
          <p:cNvSpPr/>
          <p:nvPr/>
        </p:nvSpPr>
        <p:spPr>
          <a:xfrm>
            <a:off x="6958013" y="4714875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26"/>
              </a:lnSpc>
              <a:buNone/>
            </a:pPr>
            <a:r>
              <a:rPr lang="en-US" sz="79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Следующий игрок объясняет, что он видит на картинке.</a:t>
            </a:r>
            <a:endParaRPr lang="en-US" sz="790" dirty="0"/>
          </a:p>
        </p:txBody>
      </p:sp>
      <p:sp>
        <p:nvSpPr>
          <p:cNvPr id="26" name="Text 19"/>
          <p:cNvSpPr/>
          <p:nvPr/>
        </p:nvSpPr>
        <p:spPr>
          <a:xfrm>
            <a:off x="1621631" y="1885950"/>
            <a:ext cx="914400" cy="914400"/>
          </a:xfrm>
          <a:prstGeom prst="ellipse">
            <a:avLst/>
          </a:prstGeom>
          <a:solidFill>
            <a:srgbClr val="FFD6FF"/>
          </a:solidFill>
          <a:ln w="101600">
            <a:solidFill>
              <a:srgbClr val="FFFFFF"/>
            </a:solidFill>
          </a:ln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1878806" y="2886075"/>
            <a:ext cx="4863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Слово</a:t>
            </a:r>
            <a:endParaRPr lang="en-US" sz="1130" dirty="0"/>
          </a:p>
        </p:txBody>
      </p:sp>
      <p:sp>
        <p:nvSpPr>
          <p:cNvPr id="28" name="Text 21"/>
          <p:cNvSpPr/>
          <p:nvPr/>
        </p:nvSpPr>
        <p:spPr>
          <a:xfrm>
            <a:off x="4193381" y="1914525"/>
            <a:ext cx="742950" cy="792956"/>
          </a:xfrm>
          <a:prstGeom prst="ellipse">
            <a:avLst/>
          </a:prstGeom>
          <a:solidFill>
            <a:srgbClr val="BBD0FF"/>
          </a:solidFill>
          <a:ln w="101600">
            <a:solidFill>
              <a:srgbClr val="FFFFFF"/>
            </a:solidFill>
          </a:ln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6515100" y="1885950"/>
            <a:ext cx="914400" cy="914400"/>
          </a:xfrm>
          <a:prstGeom prst="ellipse">
            <a:avLst/>
          </a:prstGeom>
          <a:solidFill>
            <a:srgbClr val="FFD6FF"/>
          </a:solidFill>
          <a:ln w="101600">
            <a:solidFill>
              <a:srgbClr val="FFFFFF"/>
            </a:solidFill>
          </a:ln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650831" y="2886075"/>
            <a:ext cx="7103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Картинка</a:t>
            </a:r>
            <a:endParaRPr lang="en-US" sz="113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7381" y="2171700"/>
            <a:ext cx="342900" cy="342900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981" y="2164556"/>
            <a:ext cx="278606" cy="300038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2171700"/>
            <a:ext cx="342900" cy="342900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  <p:pic>
        <p:nvPicPr>
          <p:cNvPr id="38" name="Image 3">
            <a:extLst>
              <a:ext uri="{FF2B5EF4-FFF2-40B4-BE49-F238E27FC236}">
                <a16:creationId xmlns:a16="http://schemas.microsoft.com/office/drawing/2014/main" id="{43258795-3D85-ADFB-F3DC-19A8E1C2B0D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911253" y="1"/>
            <a:ext cx="1232746" cy="12327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342900"/>
            <a:ext cx="40719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Начало цепочки: от слова к загадке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2900" y="1314450"/>
            <a:ext cx="4086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100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Шаг 1: Начинаем с простого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1771650"/>
            <a:ext cx="40719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Давайте посмотрим, как это работает на практике. Наше стартовое слово — </a:t>
            </a:r>
            <a:r>
              <a:rPr lang="en-US" sz="2030" b="1" dirty="0">
                <a:solidFill>
                  <a:srgbClr val="1F2937"/>
                </a:solidFill>
                <a:highlight>
                  <a:srgbClr val="BBD0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КОШКА</a:t>
            </a:r>
            <a:r>
              <a:rPr lang="en-US" sz="11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342900" y="2486025"/>
            <a:ext cx="407193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19"/>
              </a:lnSpc>
              <a:buSzPct val="100000"/>
              <a:buChar char="•"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Ввод:</a:t>
            </a:r>
            <a:r>
              <a:rPr lang="en-US" sz="101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Мы даём ИИ команду: "Придумай загадку про кошку, но не называй само слово".
</a:t>
            </a: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Трансформация:</a:t>
            </a:r>
            <a:r>
              <a:rPr lang="en-US" sz="101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ИИ начинает анализировать признаки (усы, хвост, мурлыканье, ловля мышей).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342900" y="3800475"/>
            <a:ext cx="4057650" cy="1000125"/>
          </a:xfrm>
          <a:prstGeom prst="roundRect">
            <a:avLst>
              <a:gd name="adj" fmla="val 11429"/>
            </a:avLst>
          </a:prstGeom>
          <a:solidFill>
            <a:srgbClr val="F0F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3800475"/>
            <a:ext cx="4057650" cy="1000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43450" y="1114425"/>
            <a:ext cx="4057650" cy="2914650"/>
          </a:xfrm>
          <a:prstGeom prst="roundRect">
            <a:avLst>
              <a:gd name="adj" fmla="val 11765"/>
            </a:avLst>
          </a:prstGeom>
          <a:solidFill>
            <a:srgbClr val="FFD8FF">
              <a:alpha val="10000"/>
            </a:srgbClr>
          </a:solidFill>
          <a:ln w="50800">
            <a:solidFill>
              <a:srgbClr val="FFD6FF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43800" y="3771900"/>
            <a:ext cx="1371600" cy="1371600"/>
          </a:xfrm>
          <a:prstGeom prst="rect">
            <a:avLst/>
          </a:prstGeom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571500" y="3971925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произошло?</a:t>
            </a:r>
            <a:endParaRPr lang="en-US" sz="1130" dirty="0"/>
          </a:p>
        </p:txBody>
      </p:sp>
      <p:sp>
        <p:nvSpPr>
          <p:cNvPr id="12" name="Text 8"/>
          <p:cNvSpPr/>
          <p:nvPr/>
        </p:nvSpPr>
        <p:spPr>
          <a:xfrm>
            <a:off x="571500" y="4229100"/>
            <a:ext cx="36718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Простое слово превратилось в набор признаков. Информация начала "расти" и обрастать деталями.</a:t>
            </a:r>
            <a:endParaRPr lang="en-US" sz="1010" dirty="0"/>
          </a:p>
        </p:txBody>
      </p:sp>
      <p:sp>
        <p:nvSpPr>
          <p:cNvPr id="13" name="Text 9"/>
          <p:cNvSpPr/>
          <p:nvPr/>
        </p:nvSpPr>
        <p:spPr>
          <a:xfrm>
            <a:off x="4543425" y="914400"/>
            <a:ext cx="457200" cy="457200"/>
          </a:xfrm>
          <a:prstGeom prst="ellipse">
            <a:avLst/>
          </a:prstGeom>
          <a:solidFill>
            <a:srgbClr val="FFD6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114925" y="1485900"/>
            <a:ext cx="33432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kern="0" spc="140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РЕЗУЛЬТАТ ОТ ИИ: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114925" y="1885950"/>
            <a:ext cx="3328988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95"/>
              </a:lnSpc>
              <a:buNone/>
            </a:pPr>
            <a:r>
              <a:rPr lang="en-US" sz="2030" i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"У меня мягкие лапки с острыми когтями, я люблю молоко и умею петь без слов, когда меня гладят. Кто я?"</a:t>
            </a:r>
            <a:endParaRPr lang="en-US" sz="203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1028700"/>
            <a:ext cx="228600" cy="228600"/>
          </a:xfrm>
          <a:prstGeom prst="rect">
            <a:avLst/>
          </a:prstGeom>
        </p:spPr>
      </p:pic>
      <p:pic>
        <p:nvPicPr>
          <p:cNvPr id="17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11253" y="1"/>
            <a:ext cx="1232746" cy="1232746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342900"/>
            <a:ext cx="326469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Визуализация догадки: от загадки к образу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2900" y="2171700"/>
            <a:ext cx="32789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62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Шаг 2: ИИ становится художником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 rot="60000">
            <a:off x="3814763" y="1092994"/>
            <a:ext cx="5100638" cy="2964656"/>
          </a:xfrm>
          <a:prstGeom prst="roundRect">
            <a:avLst>
              <a:gd name="adj" fmla="val 7711"/>
            </a:avLst>
          </a:prstGeom>
          <a:noFill/>
          <a:ln w="152400">
            <a:solidFill>
              <a:srgbClr val="FFFFFF"/>
            </a:solidFill>
          </a:ln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2628900"/>
            <a:ext cx="3250406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27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3800475"/>
            <a:ext cx="3250406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27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800350"/>
            <a:ext cx="29360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D100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Процесс: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514350" y="3057525"/>
            <a:ext cx="29217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читает слова "мягкие лапки", "острые когти" и "молоко".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514350" y="3971925"/>
            <a:ext cx="29360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BBD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Творчество: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514350" y="4229100"/>
            <a:ext cx="29217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Он рисует не просто кошку, а образ, основанный на этих словах.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3757613" y="3686175"/>
            <a:ext cx="2228850" cy="428625"/>
          </a:xfrm>
          <a:prstGeom prst="roundRect">
            <a:avLst>
              <a:gd name="adj" fmla="val 50000"/>
            </a:avLst>
          </a:prstGeom>
          <a:solidFill>
            <a:srgbClr val="FFD6F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86213" y="3800475"/>
            <a:ext cx="18371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мы видим на экране?</a:t>
            </a:r>
            <a:endParaRPr lang="en-US" sz="113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B241CE6-55AD-3E2E-6059-552FF56CD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494" y="1959584"/>
            <a:ext cx="4901246" cy="1598649"/>
          </a:xfrm>
          <a:prstGeom prst="rect">
            <a:avLst/>
          </a:prstGeom>
        </p:spPr>
      </p:pic>
      <p:sp>
        <p:nvSpPr>
          <p:cNvPr id="29" name="Text 8">
            <a:extLst>
              <a:ext uri="{FF2B5EF4-FFF2-40B4-BE49-F238E27FC236}">
                <a16:creationId xmlns:a16="http://schemas.microsoft.com/office/drawing/2014/main" id="{3F3F1F1C-4F63-8EED-0D97-E61A0B84FF0E}"/>
              </a:ext>
            </a:extLst>
          </p:cNvPr>
          <p:cNvSpPr/>
          <p:nvPr/>
        </p:nvSpPr>
        <p:spPr>
          <a:xfrm>
            <a:off x="4158828" y="1433033"/>
            <a:ext cx="4692912" cy="425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ru-RU" sz="101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может давать разные результаты с одинаковыми запросами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144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5756" y="342900"/>
            <a:ext cx="72029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Информационный сдвиг: от изображения к новой загадке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35756" y="1143000"/>
            <a:ext cx="84867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100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Шаг 3: Человек вступает в игру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5756" y="3943350"/>
            <a:ext cx="8458200" cy="1171575"/>
          </a:xfrm>
          <a:prstGeom prst="roundRect">
            <a:avLst>
              <a:gd name="adj" fmla="val 19512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5756" y="1714500"/>
            <a:ext cx="8458200" cy="1771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 rot="120000">
            <a:off x="6522244" y="4300538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FD6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4356" y="4171950"/>
            <a:ext cx="59864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FFFFFF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Итог этапа:</a:t>
            </a:r>
            <a:endParaRPr lang="en-US" sz="1690" dirty="0"/>
          </a:p>
        </p:txBody>
      </p:sp>
      <p:sp>
        <p:nvSpPr>
          <p:cNvPr id="9" name="Text 6"/>
          <p:cNvSpPr/>
          <p:nvPr/>
        </p:nvSpPr>
        <p:spPr>
          <a:xfrm>
            <a:off x="564356" y="4486275"/>
            <a:ext cx="59721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Первоначальная "Кошка" уже начинает превращаться в кого-то более дикого и таинственного.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 rot="120000">
            <a:off x="6522244" y="4300538"/>
            <a:ext cx="2115387" cy="457200"/>
          </a:xfrm>
          <a:prstGeom prst="rect">
            <a:avLst/>
          </a:prstGeom>
          <a:noFill/>
          <a:ln/>
        </p:spPr>
        <p:txBody>
          <a:bodyPr wrap="none" lIns="228600" tIns="114300" rIns="228600" bIns="11430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Смысл ускользает!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35756" y="1714500"/>
            <a:ext cx="2671763" cy="1771650"/>
          </a:xfrm>
          <a:prstGeom prst="roundRect">
            <a:avLst>
              <a:gd name="adj" fmla="val 9677"/>
            </a:avLst>
          </a:prstGeom>
          <a:solidFill>
            <a:srgbClr val="F0F4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56" y="1714500"/>
            <a:ext cx="2671763" cy="1771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8975" y="1814513"/>
            <a:ext cx="2671763" cy="1571625"/>
          </a:xfrm>
          <a:prstGeom prst="roundRect">
            <a:avLst>
              <a:gd name="adj" fmla="val 10909"/>
            </a:avLst>
          </a:prstGeom>
          <a:solidFill>
            <a:srgbClr val="F0F4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8975" y="1814513"/>
            <a:ext cx="2671763" cy="15716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9338" y="1814513"/>
            <a:ext cx="2671763" cy="1571625"/>
          </a:xfrm>
          <a:prstGeom prst="roundRect">
            <a:avLst>
              <a:gd name="adj" fmla="val 10909"/>
            </a:avLst>
          </a:prstGeom>
          <a:solidFill>
            <a:srgbClr val="F0F4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9338" y="1814513"/>
            <a:ext cx="2671763" cy="15716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4356" y="15430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BBD0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3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971675"/>
            <a:ext cx="2214563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4356" y="2343150"/>
            <a:ext cx="22431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Наблюдение:</a:t>
            </a:r>
            <a:endParaRPr lang="en-US" sz="1130" dirty="0"/>
          </a:p>
        </p:txBody>
      </p:sp>
      <p:sp>
        <p:nvSpPr>
          <p:cNvPr id="20" name="Text 13"/>
          <p:cNvSpPr/>
          <p:nvPr/>
        </p:nvSpPr>
        <p:spPr>
          <a:xfrm>
            <a:off x="564356" y="2600325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"Я вижу пушистого зверя с огромными усами и странными глазами".</a:t>
            </a:r>
            <a:endParaRPr lang="en-US" sz="1010" dirty="0"/>
          </a:p>
        </p:txBody>
      </p:sp>
      <p:sp>
        <p:nvSpPr>
          <p:cNvPr id="21" name="Text 14"/>
          <p:cNvSpPr/>
          <p:nvPr/>
        </p:nvSpPr>
        <p:spPr>
          <a:xfrm>
            <a:off x="3457575" y="16430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D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3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2043113"/>
            <a:ext cx="2214563" cy="285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57575" y="2443163"/>
            <a:ext cx="22431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Новая интерпретация:</a:t>
            </a:r>
            <a:endParaRPr lang="en-US" sz="1130" dirty="0"/>
          </a:p>
        </p:txBody>
      </p:sp>
      <p:sp>
        <p:nvSpPr>
          <p:cNvPr id="24" name="Text 16"/>
          <p:cNvSpPr/>
          <p:nvPr/>
        </p:nvSpPr>
        <p:spPr>
          <a:xfrm>
            <a:off x="3457575" y="2700338"/>
            <a:ext cx="222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"Горный лесной житель, который ищет еду ночью".</a:t>
            </a:r>
            <a:endParaRPr lang="en-US" sz="1010" dirty="0"/>
          </a:p>
        </p:txBody>
      </p:sp>
      <p:sp>
        <p:nvSpPr>
          <p:cNvPr id="25" name="Text 17"/>
          <p:cNvSpPr/>
          <p:nvPr/>
        </p:nvSpPr>
        <p:spPr>
          <a:xfrm>
            <a:off x="6357938" y="16430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BBD0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3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938" y="2043113"/>
            <a:ext cx="2214563" cy="2857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357938" y="2443163"/>
            <a:ext cx="22431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Второй круг:</a:t>
            </a:r>
            <a:endParaRPr lang="en-US" sz="1130" dirty="0"/>
          </a:p>
        </p:txBody>
      </p:sp>
      <p:sp>
        <p:nvSpPr>
          <p:cNvPr id="28" name="Text 19"/>
          <p:cNvSpPr/>
          <p:nvPr/>
        </p:nvSpPr>
        <p:spPr>
          <a:xfrm>
            <a:off x="6357938" y="2700338"/>
            <a:ext cx="222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получает это описание и делает новую загадку.</a:t>
            </a:r>
            <a:endParaRPr lang="en-US" sz="101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  <p:pic>
        <p:nvPicPr>
          <p:cNvPr id="33" name="Image 3">
            <a:extLst>
              <a:ext uri="{FF2B5EF4-FFF2-40B4-BE49-F238E27FC236}">
                <a16:creationId xmlns:a16="http://schemas.microsoft.com/office/drawing/2014/main" id="{F7D340E4-D500-5112-2175-7B0C1764483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11253" y="1"/>
            <a:ext cx="1232746" cy="1232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Почему меняется послание?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2900" y="742950"/>
            <a:ext cx="84867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A37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Разница в восприятии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3800475"/>
            <a:ext cx="8458200" cy="1343025"/>
          </a:xfrm>
          <a:prstGeom prst="roundRect">
            <a:avLst>
              <a:gd name="adj" fmla="val 8511"/>
            </a:avLst>
          </a:prstGeom>
          <a:solidFill>
            <a:srgbClr val="BBD0FF">
              <a:alpha val="20000"/>
            </a:srgbClr>
          </a:solidFill>
          <a:ln w="25400">
            <a:solidFill>
              <a:srgbClr val="BBD0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71475" y="1228725"/>
            <a:ext cx="8401050" cy="2329624"/>
          </a:xfrm>
          <a:prstGeom prst="roundRect">
            <a:avLst>
              <a:gd name="adj" fmla="val 391"/>
            </a:avLst>
          </a:prstGeom>
          <a:solidFill>
            <a:srgbClr val="FFFF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1475" y="1228725"/>
          <a:ext cx="8401050" cy="2329623"/>
        </p:xfrm>
        <a:graphic>
          <a:graphicData uri="http://schemas.openxmlformats.org/drawingml/2006/table">
            <a:tbl>
              <a:tblPr/>
              <a:tblGrid>
                <a:gridCol w="134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2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Признак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65100" marB="165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Человек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65100" marB="165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Искусственный Интеллект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65100" marB="165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b="1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Понимание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26" cap="flat" cmpd="sng" algn="ctr">
                      <a:solidFill>
                        <a:srgbClr val="E8E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Знает, что кошка — это домашний питомец.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26" cap="flat" cmpd="sng" algn="ctr">
                      <a:solidFill>
                        <a:srgbClr val="E8E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Видит набор пикселей и ключевых слов.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26" cap="flat" cmpd="sng" algn="ctr">
                      <a:solidFill>
                        <a:srgbClr val="E8E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b="1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Логика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4826" cap="flat" cmpd="sng" algn="ctr">
                      <a:solidFill>
                        <a:srgbClr val="E8E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26" cap="flat" cmpd="sng" algn="ctr">
                      <a:solidFill>
                        <a:srgbClr val="E1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Опирается на здравый смысл.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4826" cap="flat" cmpd="sng" algn="ctr">
                      <a:solidFill>
                        <a:srgbClr val="E8E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26" cap="flat" cmpd="sng" algn="ctr">
                      <a:solidFill>
                        <a:srgbClr val="E1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Опирается на ассоциации из базы данных.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4826" cap="flat" cmpd="sng" algn="ctr">
                      <a:solidFill>
                        <a:srgbClr val="E8E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26" cap="flat" cmpd="sng" algn="ctr">
                      <a:solidFill>
                        <a:srgbClr val="E1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b="1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Ошибки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4826" cap="flat" cmpd="sng" algn="ctr">
                      <a:solidFill>
                        <a:srgbClr val="E1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Может забыть деталь.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4826" cap="flat" cmpd="sng" algn="ctr">
                      <a:solidFill>
                        <a:srgbClr val="E1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9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Может добавить лишнюю деталь (галлюцинация).</a:t>
                      </a:r>
                      <a:endParaRPr lang="en-US" sz="101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800" marR="1778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4826" cap="flat" cmpd="sng" algn="ctr">
                      <a:solidFill>
                        <a:srgbClr val="E1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956" y="4357688"/>
            <a:ext cx="228600" cy="2286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4357688"/>
            <a:ext cx="228600" cy="2286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144" y="4357688"/>
            <a:ext cx="228600" cy="2286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8638" y="4057650"/>
            <a:ext cx="571500" cy="571500"/>
          </a:xfrm>
          <a:prstGeom prst="rect">
            <a:avLst/>
          </a:prstGeom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</p:pic>
      <p:sp>
        <p:nvSpPr>
          <p:cNvPr id="12" name="Text 5"/>
          <p:cNvSpPr/>
          <p:nvPr/>
        </p:nvSpPr>
        <p:spPr>
          <a:xfrm>
            <a:off x="592931" y="4686300"/>
            <a:ext cx="5195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Кошка</a:t>
            </a:r>
            <a:endParaRPr lang="en-US" sz="1130" dirty="0"/>
          </a:p>
        </p:txBody>
      </p:sp>
      <p:sp>
        <p:nvSpPr>
          <p:cNvPr id="13" name="Text 6"/>
          <p:cNvSpPr/>
          <p:nvPr/>
        </p:nvSpPr>
        <p:spPr>
          <a:xfrm>
            <a:off x="4211456" y="4057650"/>
            <a:ext cx="571500" cy="571500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4254319" y="4686300"/>
            <a:ext cx="5639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Загадка</a:t>
            </a:r>
            <a:endParaRPr lang="en-US" sz="101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29563" y="3986213"/>
            <a:ext cx="685800" cy="685800"/>
          </a:xfrm>
          <a:prstGeom prst="rect">
            <a:avLst/>
          </a:prstGeom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</p:pic>
      <p:sp>
        <p:nvSpPr>
          <p:cNvPr id="18" name="Text 10"/>
          <p:cNvSpPr/>
          <p:nvPr/>
        </p:nvSpPr>
        <p:spPr>
          <a:xfrm>
            <a:off x="8029575" y="4729163"/>
            <a:ext cx="5530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ТИГР!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4447200" y="4214813"/>
            <a:ext cx="1727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9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69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  <p:pic>
        <p:nvPicPr>
          <p:cNvPr id="25" name="Image 3">
            <a:extLst>
              <a:ext uri="{FF2B5EF4-FFF2-40B4-BE49-F238E27FC236}">
                <a16:creationId xmlns:a16="http://schemas.microsoft.com/office/drawing/2014/main" id="{1ACD75E7-37B4-25EB-828A-807D6BBDC3F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11253" y="1"/>
            <a:ext cx="1232746" cy="1232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380" b="1" dirty="0">
                <a:solidFill>
                  <a:srgbClr val="FFD6FF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Готовы к игре: правила игры</a:t>
            </a:r>
            <a:endParaRPr lang="en-US" sz="3380" dirty="0"/>
          </a:p>
        </p:txBody>
      </p:sp>
      <p:sp>
        <p:nvSpPr>
          <p:cNvPr id="3" name="Text 1"/>
          <p:cNvSpPr/>
          <p:nvPr/>
        </p:nvSpPr>
        <p:spPr>
          <a:xfrm>
            <a:off x="342900" y="885825"/>
            <a:ext cx="84867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мы будем играть сегодня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342900" y="4057650"/>
            <a:ext cx="8458200" cy="1085850"/>
          </a:xfrm>
          <a:prstGeom prst="roundRect">
            <a:avLst>
              <a:gd name="adj" fmla="val 26316"/>
            </a:avLst>
          </a:prstGeom>
          <a:solidFill>
            <a:srgbClr val="FFD6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485900"/>
            <a:ext cx="4114800" cy="1143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1485900"/>
            <a:ext cx="4114800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86300" y="1485900"/>
            <a:ext cx="4114800" cy="1143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485900"/>
            <a:ext cx="4114800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" y="2663190"/>
            <a:ext cx="4114800" cy="1343025"/>
          </a:xfrm>
          <a:prstGeom prst="roundRect">
            <a:avLst>
              <a:gd name="adj" fmla="val 1276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00" y="2663190"/>
            <a:ext cx="4114800" cy="1343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86300" y="2663190"/>
            <a:ext cx="4114800" cy="1343025"/>
          </a:xfrm>
          <a:prstGeom prst="roundRect">
            <a:avLst>
              <a:gd name="adj" fmla="val 1276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6300" y="2663190"/>
            <a:ext cx="4114800" cy="1343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650" y="17145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D6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972050" y="17145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BBD0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28650" y="289179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BBD0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972050" y="289179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D6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571500" y="4314825"/>
            <a:ext cx="514350" cy="5715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030" b="1" dirty="0">
                <a:solidFill>
                  <a:srgbClr val="FF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2030" dirty="0"/>
          </a:p>
        </p:txBody>
      </p:sp>
      <p:sp>
        <p:nvSpPr>
          <p:cNvPr id="18" name="Text 12"/>
          <p:cNvSpPr/>
          <p:nvPr/>
        </p:nvSpPr>
        <p:spPr>
          <a:xfrm>
            <a:off x="6357938" y="4429125"/>
            <a:ext cx="22893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Roboto Serif" pitchFamily="34" charset="0"/>
                <a:ea typeface="Roboto Serif" pitchFamily="34" charset="-122"/>
                <a:cs typeface="Roboto Serif" pitchFamily="34" charset="-120"/>
              </a:rPr>
              <a:t>Начинаем?</a:t>
            </a:r>
            <a:endParaRPr lang="en-US" sz="2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800225"/>
            <a:ext cx="285750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57300" y="1714500"/>
            <a:ext cx="2557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Команды: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257300" y="2000250"/>
            <a:ext cx="25574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Собираемся в небольшие группы</a:t>
            </a:r>
            <a:endParaRPr lang="en-US" sz="113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775" y="1800225"/>
            <a:ext cx="285750" cy="285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00700" y="1714500"/>
            <a:ext cx="3000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Роли: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5600700" y="2000250"/>
            <a:ext cx="2986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каждом раунде один человек — "Описатель", другой — "Оператор ИИ".</a:t>
            </a:r>
            <a:endParaRPr lang="en-US" sz="113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977515"/>
            <a:ext cx="285750" cy="28575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57300" y="2891790"/>
            <a:ext cx="3000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Секретность: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1257300" y="3177540"/>
            <a:ext cx="29860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подглядывайте в результаты предыдущих этапов, пока цепочка не закончится!</a:t>
            </a:r>
            <a:endParaRPr lang="en-US" sz="113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775" y="2977515"/>
            <a:ext cx="285750" cy="2857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600700" y="2891790"/>
            <a:ext cx="3000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Финал: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5600700" y="3177540"/>
            <a:ext cx="2986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конце мы выведем всю цепочку изменений</a:t>
            </a:r>
            <a:endParaRPr lang="en-US" sz="1130" dirty="0"/>
          </a:p>
        </p:txBody>
      </p:sp>
      <p:sp>
        <p:nvSpPr>
          <p:cNvPr id="31" name="Text 21"/>
          <p:cNvSpPr/>
          <p:nvPr/>
        </p:nvSpPr>
        <p:spPr>
          <a:xfrm>
            <a:off x="1257300" y="4286250"/>
            <a:ext cx="51292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Главное правило: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1257300" y="4514850"/>
            <a:ext cx="5114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расстраивайтесь, если результат будет странным. Чем страннее — тем веселее!</a:t>
            </a:r>
            <a:endParaRPr lang="en-US" sz="113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58000" y="0"/>
            <a:ext cx="2143125" cy="1071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562</Words>
  <Application>Microsoft Office PowerPoint</Application>
  <PresentationFormat>Экран (16:9)</PresentationFormat>
  <Paragraphs>103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Roboto Serif Black</vt:lpstr>
      <vt:lpstr>Arial</vt:lpstr>
      <vt:lpstr>Roboto Serif</vt:lpstr>
      <vt:lpstr>Roboto</vt:lpstr>
      <vt:lpstr>SlidesAI Simple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Создай презентацию для детей 8-14 лет, объясняющую игру "ИИшный телефон".  Требования к презентации: - 8-10 слайдов - Яр</dc:title>
  <dc:subject>PptxGenJS Presentation</dc:subject>
  <dc:creator>SlidesAI</dc:creator>
  <cp:lastModifiedBy>Star Lex</cp:lastModifiedBy>
  <cp:revision>2</cp:revision>
  <dcterms:created xsi:type="dcterms:W3CDTF">2026-05-23T13:11:53Z</dcterms:created>
  <dcterms:modified xsi:type="dcterms:W3CDTF">2026-05-23T13:58:31Z</dcterms:modified>
</cp:coreProperties>
</file>